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, padding: 0 }}&gt;&#10;&#10;    &lt;Box style={{ width: 1280, height: 64, background: '#0E3F8C', padding: '0 56px', flexDirection: 'row', alignItems: 'center', justifyContent: 'space-between' }}&gt;&#10;        &lt;Text style={{ fontSize: 16, color: '#FFFFFF', letterSpacing: 1 }}&gt;软件工程实践（Ⅰ）· 2026-2027-1 学期&lt;/Text&gt;&#10;        &lt;Text style={{ fontSize: 16, color: 'rgba(255,255,255,0.75)' }}&gt;第 5 组 · 在线购物系统（挑战升级）&lt;/Text&gt;&#10;    &lt;/Box&gt;&#10;&#10;    &lt;Box style={{ flex: 1, padding: '26px 56px 18px 56px', flexDirection: 'row', gap: 36 }}&gt;&#10;&#10;        &lt;Box style={{ width: 520, flexDirection: 'column', justifyContent: 'space-between' }}&gt;&#10;            &lt;Box style={{ flexDirection: 'column', gap: 10 }}&gt;&#10;                &lt;Text style={{ fontSize: 16, color: '#3D7BD9', letterSpacing: 2 }}&gt;迭代 2 个人工作汇报&lt;/Text&gt;&#10;                &lt;Text style={{ fontSize: 52, fontWeight: 'bold', color: '#0E3F8C', lineHeight: 1.2 }}&gt;账号与客户模块&lt;/Text&gt;&#10;                &lt;Text style={{ fontSize: 20, color: '#4A5568', lineHeight: 1.5 }}&gt;买家注册登录 · 卖家客户管理 · 一次模块化重构&lt;/Text&gt;&#10;                &lt;Box style={{ flexDirection: 'row', gap: 10, marginTop: 4 }}&gt;&#10;                    &lt;Box style={{ width: 48, height: 4, background: '#1E4FA8', marginTop: 8 }} /&gt;&#10;                    &lt;Text style={{ fontSize: 15, color: '#8B97A8' }}&gt;汇报人 胡成溯（组长 / 架构）&lt;/Text&gt;&#10;                &lt;/Box&gt;&#10;            &lt;/Box&gt;&#10;&#10;            &lt;Box style={{ flexDirection: 'column', gap: 6 }}&gt;&#10;                &lt;Text style={{ fontSize: 14, color: '#8B97A8' }}&gt;对应课程需求&lt;/Text&gt;&#10;                &lt;Text style={{ fontSize: 16, color: '#1A2230', lineHeight: 1.5 }}&gt;挑战需求 A.2.1 客户自由注册&lt;/Text&gt;&#10;                &lt;Text style={{ fontSize: 16, color: '#1A2230', lineHeight: 1.5 }}&gt;挑战需求 A.2.3 商家查看客户信息与购买历史&lt;/Text&gt;&#10;            &lt;/Box&gt;&#10;&#10;            &lt;Box style={{ flexDirection: 'row', gap: 10 }}&gt;&#10;                &lt;Box style={{ flex: 1, background: '#E8EFF8', borderRadius: 6, padding: '10px 12px', flexDirection: 'column', gap: 2 }}&gt;&#10;                    &lt;Text style={{ fontSize: 26, fontWeight: 'bold', color: '#1E4FA8', lineHeight: 1.1 }}&gt;13&lt;/Text&gt;&#10;                    &lt;Text style={{ fontSize: 13, color: '#4A5568' }}&gt;个故事点&lt;/Text&gt;&#10;                &lt;/Box&gt;&#10;                &lt;Box style={{ flex: 1, background: '#E8EFF8', borderRadius: 6, padding: '10px 12px', flexDirection: 'column', gap: 2 }}&gt;&#10;                    &lt;Text style={{ fontSize: 26, fontWeight: 'bold', color: '#1E4FA8', lineHeight: 1.1 }}&gt;41&lt;/Text&gt;&#10;                    &lt;Text style={{ fontSize: 13, color: '#4A5568' }}&gt;条用例全绿&lt;/Text&gt;&#10;                &lt;/Box&gt;&#10;                &lt;Box style={{ flex: 1, background: '#0E3F8C', borderRadius: 6, padding: '10px 12px', flexDirection: 'column', gap: 2 }}&gt;&#10;                    &lt;Text style={{ fontSize: 22, fontWeight: 'bold', color: '#FFFFFF', lineHeight: 1.2 }}&gt;11 / 13&lt;/Text&gt;&#10;                    &lt;Text style={{ fontSize: 13, color: 'rgba(255,255,255,0.8)' }}&gt;点已闭环&lt;/Text&gt;&#10;                &lt;/Box&gt;&#10;            &lt;/Box&gt;&#10;        &lt;/Box&gt;&#10;&#10;        &lt;Box style={{ flex: 1, flexDirection: 'column', gap: 10 }}&gt;&#10;            &lt;Box style={{ flexDirection: 'row', alignItems: 'center', justifyContent: 'space-between' }}&gt;&#10;                &lt;Text style={{ fontSize: 16, fontWeight: 'bold', color: '#1A2230' }}&gt;报告结构&lt;/Text&gt;&#10;                &lt;Text style={{ fontSize: 13, color: '#8B97A8' }}&gt;共 6 页 · 先总览，再按任务编号逐项展开&lt;/Text&gt;&#10;            &lt;/Box&gt;&#10;&#10;            &lt;Box style={{ flex: 1, flexDirection: 'column', gap: 10 }}&gt;&#10;                &lt;Box style={{ flex: 1, flexDirection: 'row', alignItems: 'center', background: '#F7F9FC', border: '1px solid #D6DCE5', borderRadius: 6, padding: '0 16px', gap: 14 }}&gt;&#10;                    &lt;Text style={{ fontSize: 15, color: '#8B97A8', width: 30 }}&gt;P2&lt;/Text&gt;&#10;                    &lt;Text style={{ fontSize: 17, fontWeight: 'bold', color: '#1A2230', flex: 1 }}&gt;任务清单：7 项任务、13 个故事点&lt;/Text&gt;&#10;                    &lt;Text style={{ fontSize: 13, color: '#4A5568' }}&gt;总览&lt;/Text&gt;&#10;                &lt;/Box&gt;&#10;                &lt;Box style={{ flex: 1, flexDirection: 'row', alignItems: 'center', background: '#F7F9FC', border: '1px solid #D6DCE5', borderRadius: 6, padding: '0 16px', gap: 14 }}&gt;&#10;                    &lt;Text style={{ fontSize: 15, color: '#8B97A8', width: 30 }}&gt;P3&lt;/Text&gt;&#10;                    &lt;Text style={{ fontSize: 17, fontWeight: 'bold', color: '#1A2230', flex: 1 }}&gt;T2-01 模块化重构&lt;/Text&gt;&#10;                    &lt;Text style={{ fontSize: 13, color: '#1E4FA8' }}&gt;10 个类迁包、脚本拆 4 份&lt;/Text&gt;&#10;                &lt;/Box&gt;&#10;                &lt;Box style={{ flex: 1, flexDirection: 'row', alignItems: 'center', background: '#F7F9FC', border: '1px solid #D6DCE5', borderRadius: 6, padding: '0 16px', gap: 14 }}&gt;&#10;                    &lt;Text style={{ fontSize: 15, color: '#8B97A8', width: 30 }}&gt;P4&lt;/Text&gt;&#10;                    &lt;Text style={{ fontSize: 17, fontWeight: 'bold', color: '#1A2230', flex: 1 }}&gt;T2-02 / T2-03 买家账号&lt;/Text&gt;&#10;                    &lt;Text style={{ fontSize: 13, color: '#1E4FA8' }}&gt;注册、登录与独立会话&lt;/Text&gt;&#10;                &lt;/Box&gt;&#10;                &lt;Box style={{ flex: 1, flexDirection: 'row', alignItems: 'center', background: '#F7F9FC', border: '1px solid #D6DCE5', borderRadius: 6, padding: '0 16px', gap: 14 }}&gt;&#10;                    &lt;Text style={{ fontSize: 15, color: '#8B97A8', width: 30 }}&gt;P5&lt;/Text&gt;&#10;                    &lt;Text style={{ fontSize: 17, fontWeight: 'bold', color: '#1A2230', flex: 1 }}&gt;T2-04 / T2-05 客户管理&lt;/Text&gt;&#10;                    &lt;Text style={{ fontSize: 13, color: '#1E4FA8' }}&gt;列表检索与购买历史&lt;/Text&gt;&#10;                &lt;/Box&gt;&#10;                &lt;Box style={{ flex: 1, flexDirection: 'row', alignItems: 'center', background: '#F7F9FC', border: '1px solid #D6DCE5', borderRadius: 6, padding: '0 16px', gap: 14 }}&gt;&#10;                    &lt;Text style={{ fontSize: 15, color: '#8B97A8', width: 30 }}&gt;P6&lt;/Text&gt;&#10;                    &lt;Text style={{ fontSize: 17, fontWeight: 'bold', color: '#1A2230', flex: 1 }}&gt;T2-06 / T2-07 接口契约与自动化测试&lt;/Text&gt;&#10;                    &lt;Text style={{ fontSize: 13, color: '#1E4FA8' }}&gt;8 条路由 + 41 条用例&lt;/Text&gt;&#10;                &lt;/Box&gt;&#10;            &lt;/Box&gt;&#10;        &lt;/Box&gt;&#10;&#10;    &lt;/Box&gt;&#10;&#10;    &lt;Box style={{ width: 1280, height: 44, padding: '0 56px', flexDirection: 'row', alignItems: 'center', justifyContent: 'space-between' }}&gt;&#10;        &lt;Text style={{ fontSize: 14, color: '#8B97A8' }}&gt;Java 17 · Spring Boot 3.3.5 · MyBatis-Plus · SQLite ｜ 代码在 iter2-java 分支&lt;/Text&gt;&#10;        &lt;Text style={{ fontSize: 15, color: '#1E4FA8' }}&gt;01 / 06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33400" y="209550"/>
            <a:ext cx="2981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软件工程实践（Ⅰ）·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2026-2027-1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学期</a:t>
            </a:r>
            <a:endParaRPr lang="zh-CN" sz="1200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9210675" y="209550"/>
            <a:ext cx="24479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在线购物系统（挑战升级）</a:t>
            </a:r>
            <a:endParaRPr lang="zh-CN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533400" y="857250"/>
            <a:ext cx="4953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120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200" spc="150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个人工作汇报</a:t>
            </a:r>
            <a:endParaRPr lang="zh-CN" sz="1200" spc="150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533400" y="1143000"/>
            <a:ext cx="4953000" cy="714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账号与客户模块</a:t>
            </a:r>
            <a:endParaRPr lang="zh-CN" sz="39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533400" y="1952625"/>
            <a:ext cx="49530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买家注册登录</a:t>
            </a:r>
            <a:r>
              <a:rPr 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卖家客户管理</a:t>
            </a:r>
            <a:r>
              <a:rPr lang="en-US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5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一次模块化重构</a:t>
            </a:r>
            <a:endParaRPr lang="zh-CN" sz="15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3400" y="2505075"/>
            <a:ext cx="4572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1085850" y="2428875"/>
            <a:ext cx="1905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汇报人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胡成溯（组长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架构）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533400" y="3676650"/>
            <a:ext cx="495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对应课程需求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533400" y="3895725"/>
            <a:ext cx="4953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挑战需求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A.2.1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客户自由注册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533400" y="4229100"/>
            <a:ext cx="4953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挑战需求</a:t>
            </a:r>
            <a:r>
              <a:rPr lang="en-US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A.2.3 </a:t>
            </a:r>
            <a:r>
              <a:rPr lang="zh-CN" sz="120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商家查看客户信息与购买历史</a:t>
            </a:r>
            <a:endParaRPr lang="zh-CN" sz="120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33400" y="5572125"/>
            <a:ext cx="1590675" cy="695325"/>
          </a:xfrm>
          <a:prstGeom prst="roundRect">
            <a:avLst>
              <a:gd name="adj" fmla="val 8219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647700" y="5667375"/>
            <a:ext cx="13620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sz="19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 descr="{&quot;isTemplate&quot;:true,&quot;type&quot;:&quot;text&quot;}"/>
          <p:cNvSpPr txBox="1"/>
          <p:nvPr/>
        </p:nvSpPr>
        <p:spPr>
          <a:xfrm>
            <a:off x="647700" y="6019800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个故事点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219325" y="5572125"/>
            <a:ext cx="1581150" cy="695325"/>
          </a:xfrm>
          <a:prstGeom prst="roundRect">
            <a:avLst>
              <a:gd name="adj" fmla="val 8219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2333625" y="5667375"/>
            <a:ext cx="13525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19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41</a:t>
            </a:r>
            <a:endParaRPr lang="en-US" sz="19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2333625" y="6019800"/>
            <a:ext cx="13525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条用例全绿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3895725" y="5572125"/>
            <a:ext cx="1590675" cy="695325"/>
          </a:xfrm>
          <a:prstGeom prst="roundRect">
            <a:avLst>
              <a:gd name="adj" fmla="val 8219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4010025" y="5667375"/>
            <a:ext cx="136207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 / 13</a:t>
            </a:r>
            <a:endParaRPr lang="en-US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4010025" y="5991225"/>
            <a:ext cx="1362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点已闭环</a:t>
            </a:r>
            <a:endParaRPr lang="zh-CN" sz="9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5829300" y="857250"/>
            <a:ext cx="609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报告结构</a:t>
            </a:r>
            <a:endParaRPr lang="zh-CN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9420225" y="876300"/>
            <a:ext cx="2238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共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6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页</a:t>
            </a:r>
            <a:r>
              <a:rPr lang="en-US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97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先总览，再按任务编号逐项展开</a:t>
            </a:r>
            <a:endParaRPr lang="zh-CN" sz="97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829300" y="1143000"/>
            <a:ext cx="582930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5981700" y="1533525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P2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6400800" y="1524000"/>
            <a:ext cx="47244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任务清单：</a:t>
            </a: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项任务、</a:t>
            </a: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个故事点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11258550" y="1543050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总览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829300" y="2190750"/>
            <a:ext cx="5829300" cy="942975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5981700" y="2581275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P3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6400800" y="2562225"/>
            <a:ext cx="35242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T2-01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模块化重构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10058400" y="2590800"/>
            <a:ext cx="1447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个类迁包、脚本拆</a:t>
            </a: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份</a:t>
            </a:r>
            <a:endParaRPr lang="zh-CN" sz="9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829300" y="3228975"/>
            <a:ext cx="582930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5981700" y="3619500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P4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6400800" y="3609975"/>
            <a:ext cx="37338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T2-02 / T2-03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买家账号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10267950" y="3629025"/>
            <a:ext cx="12382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注册、登录与独立会话</a:t>
            </a:r>
            <a:endParaRPr lang="zh-CN" sz="9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829300" y="4276725"/>
            <a:ext cx="5829300" cy="942975"/>
          </a:xfrm>
          <a:prstGeom prst="roundRect">
            <a:avLst>
              <a:gd name="adj" fmla="val 606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5981700" y="4667250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P5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6400800" y="4648200"/>
            <a:ext cx="38576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T2-04 / T2-05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客户管理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10391775" y="4676775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列表检索与购买历史</a:t>
            </a:r>
            <a:endParaRPr lang="zh-CN" sz="9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5829300" y="5314950"/>
            <a:ext cx="5829300" cy="9525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5981700" y="5705475"/>
            <a:ext cx="2857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P6</a:t>
            </a:r>
            <a:endParaRPr lang="en-US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400800" y="5695950"/>
            <a:ext cx="37719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T2-06 / T2-07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接口契约与自动化测试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10306050" y="5715000"/>
            <a:ext cx="12001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8 </a:t>
            </a:r>
            <a:r>
              <a:rPr lang="zh-CN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条路由</a:t>
            </a:r>
            <a:r>
              <a:rPr lang="en-US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 + 41 </a:t>
            </a:r>
            <a:r>
              <a:rPr lang="zh-CN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条用例</a:t>
            </a:r>
            <a:endParaRPr lang="zh-CN" sz="9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533400" y="6572250"/>
            <a:ext cx="4686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Java 17 · Spring Boot 3.3.5 · MyBatis-Plus · SQLite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代码在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iter2-java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分支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11172825" y="656272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01 / 06</a:t>
            </a:r>
            <a:endParaRPr lang="en-US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49" name="矩形 38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0" name="文本框 39" descr="{&quot;isTemplate&quot;:true,&quot;type&quot;:&quot;text&quot;}"/>
          <p:cNvSpPr txBox="1"/>
          <p:nvPr/>
        </p:nvSpPr>
        <p:spPr>
          <a:xfrm>
            <a:off x="533400" y="209550"/>
            <a:ext cx="2200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个人工作汇报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sz="1200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40" descr="{&quot;isTemplate&quot;:true,&quot;type&quot;:&quot;text&quot;}"/>
          <p:cNvSpPr txBox="1"/>
          <p:nvPr/>
        </p:nvSpPr>
        <p:spPr>
          <a:xfrm>
            <a:off x="10820400" y="209550"/>
            <a:ext cx="838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任务总览</a:t>
            </a:r>
            <a:endParaRPr lang="zh-CN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矩形 41"/>
          <p:cNvSpPr/>
          <p:nvPr/>
        </p:nvSpPr>
        <p:spPr>
          <a:xfrm>
            <a:off x="533400" y="866775"/>
            <a:ext cx="47625" cy="2857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53" name="文本框 42" descr="{&quot;isTemplate&quot;:true,&quot;type&quot;:&quot;text&quot;}"/>
          <p:cNvSpPr txBox="1"/>
          <p:nvPr/>
        </p:nvSpPr>
        <p:spPr>
          <a:xfrm>
            <a:off x="695325" y="819150"/>
            <a:ext cx="4714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任务清单：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7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项任务、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13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个故事点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4" name="表格 43"/>
          <p:cNvGraphicFramePr/>
          <p:nvPr/>
        </p:nvGraphicFramePr>
        <p:xfrm>
          <a:off x="533400" y="1304925"/>
          <a:ext cx="11125200" cy="3771904"/>
        </p:xfrm>
        <a:graphic>
          <a:graphicData uri="http://schemas.openxmlformats.org/drawingml/2006/table">
            <a:tbl>
              <a:tblPr/>
              <a:tblGrid>
                <a:gridCol w="697327"/>
                <a:gridCol w="7966284"/>
                <a:gridCol w="906772"/>
                <a:gridCol w="512523"/>
                <a:gridCol w="1042294"/>
              </a:tblGrid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编号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任务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对应需求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点数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状态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T2-01</a:t>
                      </a:r>
                      <a:endParaRPr sz="120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模块化重构：Entity / Mapper 迁入各模块 domain 包，common 冻结，建表脚本拆 4 份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完成</a:t>
                      </a:r>
                      <a:endParaRPr sz="1200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T2-02</a:t>
                      </a:r>
                      <a:endParaRPr sz="120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buyer 表 + 客户注册（用户名唯一、电话必填不唯一）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A.2.1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完成</a:t>
                      </a:r>
                      <a:endParaRPr sz="1200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T2-03</a:t>
                      </a:r>
                      <a:endParaRPr sz="120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买家登录 / 退出 / 独立会话（BUYER_SESSION）+ BuyerContext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A.2.1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完成</a:t>
                      </a:r>
                      <a:endParaRPr sz="1200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T2-04</a:t>
                      </a:r>
                      <a:endParaRPr sz="120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卖家侧客户管理列表：分页、用户名/电话检索、注册时间倒序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A.2.3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完成</a:t>
                      </a:r>
                      <a:endParaRPr sz="1200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T2-05</a:t>
                      </a:r>
                      <a:endParaRPr sz="120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客户详情 + 购买历史（经 IntentHistoryPort 读取，portal 实现后自动接入）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A.2.3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✅ 完成</a:t>
                      </a:r>
                      <a:endParaRPr sz="1200">
                        <a:solidFill>
                          <a:srgbClr val="D9534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T2-06</a:t>
                      </a:r>
                      <a:endParaRPr sz="120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账号模块接口契约：8 条路由 + 两个跨模块出口 + 错误口径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完成</a:t>
                      </a:r>
                      <a:endParaRPr sz="1200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47148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T2-07</a:t>
                      </a:r>
                      <a:endParaRPr sz="120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账号模块自动化用例：新增 18 条，全量 41 条全绿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20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200" b="1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✅ 完成</a:t>
                      </a:r>
                      <a:endParaRPr sz="1200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8" name="文本框 47" descr="{&quot;isTemplate&quot;:true,&quot;type&quot;:&quot;text&quot;}"/>
          <p:cNvSpPr txBox="1"/>
          <p:nvPr/>
        </p:nvSpPr>
        <p:spPr>
          <a:xfrm>
            <a:off x="533400" y="6572250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胡成溯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账号与客户模块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本框 48" descr="{&quot;isTemplate&quot;:true,&quot;type&quot;:&quot;text&quot;}"/>
          <p:cNvSpPr txBox="1"/>
          <p:nvPr/>
        </p:nvSpPr>
        <p:spPr>
          <a:xfrm>
            <a:off x="11172825" y="656272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02 / 07</a:t>
            </a:r>
            <a:endParaRPr lang="en-US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2" name="矩形 51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63" name="文本框 52" descr="{&quot;isTemplate&quot;:true,&quot;type&quot;:&quot;text&quot;}"/>
          <p:cNvSpPr txBox="1"/>
          <p:nvPr/>
        </p:nvSpPr>
        <p:spPr>
          <a:xfrm>
            <a:off x="533400" y="209550"/>
            <a:ext cx="2200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个人工作汇报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sz="1200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53" descr="{&quot;isTemplate&quot;:true,&quot;type&quot;:&quot;text&quot;}"/>
          <p:cNvSpPr txBox="1"/>
          <p:nvPr/>
        </p:nvSpPr>
        <p:spPr>
          <a:xfrm>
            <a:off x="10201275" y="209550"/>
            <a:ext cx="14573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 T2-01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模块化重构</a:t>
            </a:r>
            <a:endParaRPr lang="zh-CN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矩形 54"/>
          <p:cNvSpPr/>
          <p:nvPr/>
        </p:nvSpPr>
        <p:spPr>
          <a:xfrm>
            <a:off x="533400" y="866775"/>
            <a:ext cx="47625" cy="2857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66" name="文本框 55" descr="{&quot;isTemplate&quot;:true,&quot;type&quot;:&quot;text&quot;}"/>
          <p:cNvSpPr txBox="1"/>
          <p:nvPr/>
        </p:nvSpPr>
        <p:spPr>
          <a:xfrm>
            <a:off x="695325" y="819150"/>
            <a:ext cx="70008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T2-01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模块化重构：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10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个类迁包、建表脚本拆</a:t>
            </a: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份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56" descr="{&quot;isTemplate&quot;:true,&quot;type&quot;:&quot;text&quot;}"/>
          <p:cNvSpPr txBox="1"/>
          <p:nvPr/>
        </p:nvSpPr>
        <p:spPr>
          <a:xfrm>
            <a:off x="8610600" y="923925"/>
            <a:ext cx="3048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2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点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迁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10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个类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拆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份脚本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业务规则零改动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8" name="表格 57"/>
          <p:cNvGraphicFramePr/>
          <p:nvPr/>
        </p:nvGraphicFramePr>
        <p:xfrm>
          <a:off x="533400" y="1304925"/>
          <a:ext cx="6972301" cy="4953000"/>
        </p:xfrm>
        <a:graphic>
          <a:graphicData uri="http://schemas.openxmlformats.org/drawingml/2006/table">
            <a:tbl>
              <a:tblPr/>
              <a:tblGrid>
                <a:gridCol w="1139771"/>
                <a:gridCol w="2115963"/>
                <a:gridCol w="3716567"/>
              </a:tblGrid>
              <a:tr h="575452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对象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onsolas" panose="020B0609020204030204"/>
                          <a:ea typeface="Consolas" panose="020B0609020204030204"/>
                        </a:rPr>
                        <a:t>重构前</a:t>
                      </a:r>
                      <a:endParaRPr sz="1200" b="1">
                        <a:solidFill>
                          <a:srgbClr val="FFFFFF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onsolas" panose="020B0609020204030204"/>
                          <a:ea typeface="Consolas" panose="020B0609020204030204"/>
                        </a:rPr>
                        <a:t>重构后</a:t>
                      </a:r>
                      <a:endParaRPr sz="1200" b="1">
                        <a:solidFill>
                          <a:srgbClr val="FFFFFF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54119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卖家实体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common.entity.Seller</a:t>
                      </a:r>
                      <a:endParaRPr sz="1125">
                        <a:solidFill>
                          <a:srgbClr val="8B97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auth.domain.Seller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119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商品 / 分类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common.entity.Product 等</a:t>
                      </a:r>
                      <a:endParaRPr sz="1125">
                        <a:solidFill>
                          <a:srgbClr val="8B97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product.domain.*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54119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意向实体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common.entity.Intent</a:t>
                      </a:r>
                      <a:endParaRPr sz="1125">
                        <a:solidFill>
                          <a:srgbClr val="8B97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portal.domain.Intent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79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买家实体（新增）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—</a:t>
                      </a:r>
                      <a:endParaRPr sz="1125">
                        <a:solidFill>
                          <a:srgbClr val="8B97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buyer.domain.Buyer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9179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公共层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entity + mapper + api + util</a:t>
                      </a:r>
                      <a:endParaRPr sz="1125">
                        <a:solidFill>
                          <a:srgbClr val="8B97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api / exception / util / constant / config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1798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建表脚本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8B97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schema.sql（1 份）</a:t>
                      </a:r>
                      <a:endParaRPr sz="1125">
                        <a:solidFill>
                          <a:srgbClr val="8B97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schema/00-base · 01-buyer · 02-product · 03-intent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9" name="圆角矩形 58"/>
          <p:cNvSpPr/>
          <p:nvPr/>
        </p:nvSpPr>
        <p:spPr>
          <a:xfrm>
            <a:off x="7705725" y="1304925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70" name="任意多边形 59"/>
          <p:cNvSpPr/>
          <p:nvPr/>
        </p:nvSpPr>
        <p:spPr>
          <a:xfrm>
            <a:off x="7705725" y="1304925"/>
            <a:ext cx="4000500" cy="1219200"/>
          </a:xfrm>
          <a:custGeom>
            <a:avLst/>
            <a:gdLst/>
            <a:ahLst/>
            <a:cxnLst/>
            <a:pathLst>
              <a:path w="420" h="12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127"/>
                </a:lnTo>
                <a:cubicBezTo>
                  <a:pt x="5" y="128"/>
                  <a:pt x="5" y="128"/>
                  <a:pt x="6" y="128"/>
                </a:cubicBezTo>
                <a:cubicBezTo>
                  <a:pt x="3" y="128"/>
                  <a:pt x="0" y="125"/>
                  <a:pt x="0" y="12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D9534F"/>
          </a:solidFill>
        </p:spPr>
        <p:txBody>
          <a:bodyPr/>
          <a:p/>
        </p:txBody>
      </p:sp>
      <p:sp>
        <p:nvSpPr>
          <p:cNvPr id="71" name="文本框 60" descr="{&quot;isTemplate&quot;:true,&quot;type&quot;:&quot;text&quot;}"/>
          <p:cNvSpPr txBox="1"/>
          <p:nvPr/>
        </p:nvSpPr>
        <p:spPr>
          <a:xfrm>
            <a:off x="7858125" y="1409700"/>
            <a:ext cx="3648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D9534F"/>
                </a:solidFill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sz="1125" spc="75">
              <a:solidFill>
                <a:srgbClr val="D9534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61" descr="{&quot;isTemplate&quot;:true,&quot;type&quot;:&quot;text&quot;}"/>
          <p:cNvSpPr txBox="1"/>
          <p:nvPr/>
        </p:nvSpPr>
        <p:spPr>
          <a:xfrm>
            <a:off x="7858125" y="1619250"/>
            <a:ext cx="3648075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实体和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Mapper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全堆在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common/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下，黄给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product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stock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、周给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intent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加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buyer_id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，改的都是同一批文件——「一人一模块」在代码层面并不成立。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圆角矩形 62"/>
          <p:cNvSpPr/>
          <p:nvPr/>
        </p:nvSpPr>
        <p:spPr>
          <a:xfrm>
            <a:off x="7705725" y="2619375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74" name="任意多边形 63"/>
          <p:cNvSpPr/>
          <p:nvPr/>
        </p:nvSpPr>
        <p:spPr>
          <a:xfrm>
            <a:off x="7705725" y="2619375"/>
            <a:ext cx="4000500" cy="1219200"/>
          </a:xfrm>
          <a:custGeom>
            <a:avLst/>
            <a:gdLst/>
            <a:ahLst/>
            <a:cxnLst/>
            <a:pathLst>
              <a:path w="420" h="128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127"/>
                </a:lnTo>
                <a:cubicBezTo>
                  <a:pt x="5" y="128"/>
                  <a:pt x="5" y="128"/>
                  <a:pt x="6" y="128"/>
                </a:cubicBezTo>
                <a:cubicBezTo>
                  <a:pt x="3" y="128"/>
                  <a:pt x="0" y="125"/>
                  <a:pt x="0" y="122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75" name="文本框 64" descr="{&quot;isTemplate&quot;:true,&quot;type&quot;:&quot;text&quot;}"/>
          <p:cNvSpPr txBox="1"/>
          <p:nvPr/>
        </p:nvSpPr>
        <p:spPr>
          <a:xfrm>
            <a:off x="7858125" y="2724150"/>
            <a:ext cx="36480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endParaRPr lang="zh-CN" sz="1125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65" descr="{&quot;isTemplate&quot;:true,&quot;type&quot;:&quot;text&quot;}"/>
          <p:cNvSpPr txBox="1"/>
          <p:nvPr/>
        </p:nvSpPr>
        <p:spPr>
          <a:xfrm>
            <a:off x="7858125" y="2933700"/>
            <a:ext cx="3648075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一次性迁移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common/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冻结（谁加工具就写在自己模块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util/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下）；脚本按模块拆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4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份，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application.yml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按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00→03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顺序加载（表间有外键依赖）。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圆角矩形 66"/>
          <p:cNvSpPr/>
          <p:nvPr/>
        </p:nvSpPr>
        <p:spPr>
          <a:xfrm>
            <a:off x="7658100" y="3933825"/>
            <a:ext cx="4000500" cy="2352675"/>
          </a:xfrm>
          <a:prstGeom prst="roundRect">
            <a:avLst>
              <a:gd name="adj" fmla="val 2429"/>
            </a:avLst>
          </a:prstGeom>
          <a:solidFill>
            <a:srgbClr val="F0F5FC"/>
          </a:solidFill>
          <a:ln w="12700">
            <a:solidFill>
              <a:srgbClr val="C9D8EE"/>
            </a:solidFill>
            <a:prstDash val="solid"/>
          </a:ln>
        </p:spPr>
        <p:txBody>
          <a:bodyPr/>
          <a:p/>
        </p:txBody>
      </p:sp>
      <p:sp>
        <p:nvSpPr>
          <p:cNvPr id="78" name="文本框 67" descr="{&quot;isTemplate&quot;:true,&quot;type&quot;:&quot;text&quot;}"/>
          <p:cNvSpPr txBox="1"/>
          <p:nvPr/>
        </p:nvSpPr>
        <p:spPr>
          <a:xfrm>
            <a:off x="7810500" y="4038600"/>
            <a:ext cx="36957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3D7BD9"/>
                </a:solidFill>
                <a:latin typeface="微软雅黑" panose="020B0503020204020204" charset="-122"/>
                <a:ea typeface="微软雅黑" panose="020B0503020204020204" charset="-122"/>
              </a:rPr>
              <a:t>作用</a:t>
            </a:r>
            <a:endParaRPr lang="zh-CN" sz="1125" spc="75">
              <a:solidFill>
                <a:srgbClr val="3D7B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68" descr="{&quot;isTemplate&quot;:true,&quot;type&quot;:&quot;text&quot;}"/>
          <p:cNvSpPr txBox="1"/>
          <p:nvPr/>
        </p:nvSpPr>
        <p:spPr>
          <a:xfrm>
            <a:off x="7810500" y="4257675"/>
            <a:ext cx="3695700" cy="80010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把三个人的代码从“共用一个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common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包”拆成“各自独占的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domain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包”，使后面</a:t>
            </a:r>
            <a:r>
              <a:rPr lang="en-US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29 </a:t>
            </a:r>
            <a:r>
              <a:rPr lang="zh-CN" sz="140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个点的并行开发在编译层面不可能互相覆盖。</a:t>
            </a:r>
            <a:endParaRPr lang="zh-CN" sz="140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69" descr="{&quot;isTemplate&quot;:true,&quot;type&quot;:&quot;text&quot;}"/>
          <p:cNvSpPr txBox="1"/>
          <p:nvPr/>
        </p:nvSpPr>
        <p:spPr>
          <a:xfrm>
            <a:off x="7810500" y="5105400"/>
            <a:ext cx="3695700" cy="0"/>
          </a:xfrm>
          <a:prstGeom prst="rect">
            <a:avLst/>
          </a:prstGeom>
        </p:spPr>
        <p:txBody>
          <a:bodyPr wrap="none" lIns="0" tIns="0" rIns="0" bIns="0"/>
          <a:p/>
        </p:txBody>
      </p:sp>
      <p:sp>
        <p:nvSpPr>
          <p:cNvPr id="81" name="文本框 70" descr="{&quot;isTemplate&quot;:true,&quot;type&quot;:&quot;text&quot;}"/>
          <p:cNvSpPr txBox="1"/>
          <p:nvPr/>
        </p:nvSpPr>
        <p:spPr>
          <a:xfrm>
            <a:off x="533400" y="6572250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胡成溯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账号与客户模块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71" descr="{&quot;isTemplate&quot;:true,&quot;type&quot;:&quot;text&quot;}"/>
          <p:cNvSpPr txBox="1"/>
          <p:nvPr/>
        </p:nvSpPr>
        <p:spPr>
          <a:xfrm>
            <a:off x="11172825" y="656272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03 / 07</a:t>
            </a:r>
            <a:endParaRPr lang="en-US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 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85" name="矩形 74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86" name="文本框 75" descr="{&quot;isTemplate&quot;:true,&quot;type&quot;:&quot;text&quot;}"/>
          <p:cNvSpPr txBox="1"/>
          <p:nvPr/>
        </p:nvSpPr>
        <p:spPr>
          <a:xfrm>
            <a:off x="533400" y="209550"/>
            <a:ext cx="2200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个人工作汇报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sz="1200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76" descr="{&quot;isTemplate&quot;:true,&quot;type&quot;:&quot;text&quot;}"/>
          <p:cNvSpPr txBox="1"/>
          <p:nvPr/>
        </p:nvSpPr>
        <p:spPr>
          <a:xfrm>
            <a:off x="9772650" y="209550"/>
            <a:ext cx="1885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 T2-02 / T2-03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买家账号</a:t>
            </a:r>
            <a:endParaRPr lang="zh-CN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77"/>
          <p:cNvSpPr/>
          <p:nvPr/>
        </p:nvSpPr>
        <p:spPr>
          <a:xfrm>
            <a:off x="533400" y="866775"/>
            <a:ext cx="47625" cy="2857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89" name="文本框 78" descr="{&quot;isTemplate&quot;:true,&quot;type&quot;:&quot;text&quot;}"/>
          <p:cNvSpPr txBox="1"/>
          <p:nvPr/>
        </p:nvSpPr>
        <p:spPr>
          <a:xfrm>
            <a:off x="695325" y="819150"/>
            <a:ext cx="67722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T2-02 / T2-03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买家账号：注册、登录与独立会话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79" descr="{&quot;isTemplate&quot;:true,&quot;type&quot;:&quot;text&quot;}"/>
          <p:cNvSpPr txBox="1"/>
          <p:nvPr/>
        </p:nvSpPr>
        <p:spPr>
          <a:xfrm>
            <a:off x="9934575" y="923925"/>
            <a:ext cx="17240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挑战需求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A.2.1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3 + 2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点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80" descr="{&quot;isTemplate&quot;:true,&quot;type&quot;:&quot;text&quot;}"/>
          <p:cNvSpPr txBox="1"/>
          <p:nvPr/>
        </p:nvSpPr>
        <p:spPr>
          <a:xfrm>
            <a:off x="533400" y="1304925"/>
            <a:ext cx="2466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buyer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表（字段按澄清结论定稿）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81" descr="{&quot;isTemplate&quot;:true,&quot;type&quot;:&quot;text&quot;}"/>
          <p:cNvSpPr txBox="1"/>
          <p:nvPr/>
        </p:nvSpPr>
        <p:spPr>
          <a:xfrm>
            <a:off x="5038725" y="1323975"/>
            <a:ext cx="14001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schema/01-buyer.sql</a:t>
            </a:r>
            <a:endParaRPr lang="en-US" sz="1050">
              <a:solidFill>
                <a:srgbClr val="8B97A8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93" name="表格 82"/>
          <p:cNvGraphicFramePr/>
          <p:nvPr/>
        </p:nvGraphicFramePr>
        <p:xfrm>
          <a:off x="533400" y="1581150"/>
          <a:ext cx="5905500" cy="4648200"/>
        </p:xfrm>
        <a:graphic>
          <a:graphicData uri="http://schemas.openxmlformats.org/drawingml/2006/table">
            <a:tbl>
              <a:tblPr/>
              <a:tblGrid>
                <a:gridCol w="1166812"/>
                <a:gridCol w="4738687"/>
              </a:tblGrid>
              <a:tr h="699729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onsolas" panose="020B0609020204030204"/>
                          <a:ea typeface="Consolas" panose="020B0609020204030204"/>
                        </a:rPr>
                        <a:t>列</a:t>
                      </a:r>
                      <a:endParaRPr sz="1200" b="1">
                        <a:solidFill>
                          <a:srgbClr val="FFFFFF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约束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65807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username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登录名，NOT NULL UNIQUE，2~20 字符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07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password_hash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sha256(salt + 明文)，与卖家算法一致，不引入 BCrypt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65807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salt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 字节随机盐，改密时轮换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07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phone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NOT NULL，但【不唯一、不校验格式】——澄清结论：电话可重复填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65807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default_place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可空，下单时可当次改写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58078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Consolas" panose="020B0609020204030204"/>
                          <a:ea typeface="Consolas" panose="020B0609020204030204"/>
                        </a:rPr>
                        <a:t>created_at</a:t>
                      </a:r>
                      <a:endParaRPr sz="1125" b="1">
                        <a:solidFill>
                          <a:srgbClr val="1E4FA8"/>
                        </a:solidFill>
                        <a:latin typeface="Consolas" panose="020B0609020204030204"/>
                        <a:ea typeface="Consolas" panose="020B0609020204030204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毫秒时间戳，列表按它倒序 + 建索引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4" name="圆角矩形 83"/>
          <p:cNvSpPr/>
          <p:nvPr/>
        </p:nvSpPr>
        <p:spPr>
          <a:xfrm>
            <a:off x="6638925" y="1304925"/>
            <a:ext cx="50673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95" name="任意多边形 84"/>
          <p:cNvSpPr/>
          <p:nvPr/>
        </p:nvSpPr>
        <p:spPr>
          <a:xfrm>
            <a:off x="6638925" y="1304925"/>
            <a:ext cx="5067300" cy="914400"/>
          </a:xfrm>
          <a:custGeom>
            <a:avLst/>
            <a:gdLst/>
            <a:ahLst/>
            <a:cxnLst/>
            <a:pathLst>
              <a:path w="532" h="9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5"/>
                </a:lnTo>
                <a:cubicBezTo>
                  <a:pt x="5" y="96"/>
                  <a:pt x="5" y="96"/>
                  <a:pt x="6" y="96"/>
                </a:cubicBezTo>
                <a:cubicBezTo>
                  <a:pt x="3" y="96"/>
                  <a:pt x="0" y="93"/>
                  <a:pt x="0" y="9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96" name="文本框 85" descr="{&quot;isTemplate&quot;:true,&quot;type&quot;:&quot;text&quot;}"/>
          <p:cNvSpPr txBox="1"/>
          <p:nvPr/>
        </p:nvSpPr>
        <p:spPr>
          <a:xfrm>
            <a:off x="6791325" y="1400175"/>
            <a:ext cx="4714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注册校验顺序</a:t>
            </a:r>
            <a:endParaRPr lang="zh-CN" sz="1125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86" descr="{&quot;isTemplate&quot;:true,&quot;type&quot;:&quot;text&quot;}"/>
          <p:cNvSpPr txBox="1"/>
          <p:nvPr/>
        </p:nvSpPr>
        <p:spPr>
          <a:xfrm>
            <a:off x="6791325" y="1609725"/>
            <a:ext cx="471487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用户名长度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查重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密码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≥8 →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电话必填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地点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≤100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先拦格式再查库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，不为明显非法的用户名白跑一次查询。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圆角矩形 87"/>
          <p:cNvSpPr/>
          <p:nvPr/>
        </p:nvSpPr>
        <p:spPr>
          <a:xfrm>
            <a:off x="6638925" y="2314575"/>
            <a:ext cx="50673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99" name="任意多边形 88"/>
          <p:cNvSpPr/>
          <p:nvPr/>
        </p:nvSpPr>
        <p:spPr>
          <a:xfrm>
            <a:off x="6638925" y="2314575"/>
            <a:ext cx="5067300" cy="1143000"/>
          </a:xfrm>
          <a:custGeom>
            <a:avLst/>
            <a:gdLst/>
            <a:ahLst/>
            <a:cxnLst/>
            <a:pathLst>
              <a:path w="532" h="120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119"/>
                </a:lnTo>
                <a:cubicBezTo>
                  <a:pt x="5" y="120"/>
                  <a:pt x="5" y="120"/>
                  <a:pt x="6" y="120"/>
                </a:cubicBezTo>
                <a:cubicBezTo>
                  <a:pt x="3" y="120"/>
                  <a:pt x="0" y="117"/>
                  <a:pt x="0" y="11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00" name="文本框 89" descr="{&quot;isTemplate&quot;:true,&quot;type&quot;:&quot;text&quot;}"/>
          <p:cNvSpPr txBox="1"/>
          <p:nvPr/>
        </p:nvSpPr>
        <p:spPr>
          <a:xfrm>
            <a:off x="6791325" y="2409825"/>
            <a:ext cx="4714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两套登录态并存（</a:t>
            </a:r>
            <a:r>
              <a:rPr lang="en-US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T2-03</a:t>
            </a:r>
            <a:r>
              <a:rPr lang="zh-CN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圆角矩形 90"/>
          <p:cNvSpPr/>
          <p:nvPr/>
        </p:nvSpPr>
        <p:spPr>
          <a:xfrm>
            <a:off x="6791325" y="2638425"/>
            <a:ext cx="2324100" cy="438150"/>
          </a:xfrm>
          <a:prstGeom prst="roundRect">
            <a:avLst>
              <a:gd name="adj" fmla="val 10870"/>
            </a:avLst>
          </a:prstGeom>
          <a:solidFill>
            <a:srgbClr val="F7F9FC"/>
          </a:solidFill>
        </p:spPr>
        <p:txBody>
          <a:bodyPr/>
          <a:p/>
        </p:txBody>
      </p:sp>
      <p:sp>
        <p:nvSpPr>
          <p:cNvPr id="102" name="文本框 91" descr="{&quot;isTemplate&quot;:true,&quot;type&quot;:&quot;text&quot;}"/>
          <p:cNvSpPr txBox="1"/>
          <p:nvPr/>
        </p:nvSpPr>
        <p:spPr>
          <a:xfrm>
            <a:off x="6886575" y="2705100"/>
            <a:ext cx="2133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卖家</a:t>
            </a:r>
            <a:endParaRPr lang="zh-CN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92" descr="{&quot;isTemplate&quot;:true,&quot;type&quot;:&quot;text&quot;}"/>
          <p:cNvSpPr txBox="1"/>
          <p:nvPr/>
        </p:nvSpPr>
        <p:spPr>
          <a:xfrm>
            <a:off x="6886575" y="2857500"/>
            <a:ext cx="2133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Consolas" panose="020B0609020204030204"/>
                <a:ea typeface="Consolas" panose="020B0609020204030204"/>
              </a:rPr>
              <a:t>SHOP_SESSION</a:t>
            </a:r>
            <a:endParaRPr lang="en-US" sz="975">
              <a:solidFill>
                <a:srgbClr val="1A223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圆角矩形 93"/>
          <p:cNvSpPr/>
          <p:nvPr/>
        </p:nvSpPr>
        <p:spPr>
          <a:xfrm>
            <a:off x="9191625" y="2638425"/>
            <a:ext cx="2314575" cy="438150"/>
          </a:xfrm>
          <a:prstGeom prst="roundRect">
            <a:avLst>
              <a:gd name="adj" fmla="val 10870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05" name="文本框 94" descr="{&quot;isTemplate&quot;:true,&quot;type&quot;:&quot;text&quot;}"/>
          <p:cNvSpPr txBox="1"/>
          <p:nvPr/>
        </p:nvSpPr>
        <p:spPr>
          <a:xfrm>
            <a:off x="9286875" y="2705100"/>
            <a:ext cx="2124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买家</a:t>
            </a:r>
            <a:endParaRPr lang="zh-CN" sz="9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95" descr="{&quot;isTemplate&quot;:true,&quot;type&quot;:&quot;text&quot;}"/>
          <p:cNvSpPr txBox="1"/>
          <p:nvPr/>
        </p:nvSpPr>
        <p:spPr>
          <a:xfrm>
            <a:off x="9286875" y="2857500"/>
            <a:ext cx="21240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Consolas" panose="020B0609020204030204"/>
                <a:ea typeface="Consolas" panose="020B0609020204030204"/>
              </a:rPr>
              <a:t>BUYER_SESSION</a:t>
            </a:r>
            <a:endParaRPr lang="en-US" sz="975" b="1">
              <a:solidFill>
                <a:srgbClr val="1E4FA8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7" name="文本框 96" descr="{&quot;isTemplate&quot;:true,&quot;type&quot;:&quot;text&quot;}"/>
          <p:cNvSpPr txBox="1"/>
          <p:nvPr/>
        </p:nvSpPr>
        <p:spPr>
          <a:xfrm>
            <a:off x="6791325" y="3114675"/>
            <a:ext cx="4714875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若共用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HttpSession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，买家登录会把卖家挤下线——演示时必然撞上。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97"/>
          <p:cNvSpPr/>
          <p:nvPr/>
        </p:nvSpPr>
        <p:spPr>
          <a:xfrm>
            <a:off x="6591300" y="3552825"/>
            <a:ext cx="5067300" cy="2733675"/>
          </a:xfrm>
          <a:prstGeom prst="roundRect">
            <a:avLst>
              <a:gd name="adj" fmla="val 2787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09" name="文本框 98" descr="{&quot;isTemplate&quot;:true,&quot;type&quot;:&quot;text&quot;}"/>
          <p:cNvSpPr txBox="1"/>
          <p:nvPr/>
        </p:nvSpPr>
        <p:spPr>
          <a:xfrm>
            <a:off x="6743700" y="3667125"/>
            <a:ext cx="4762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cookie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值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=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买家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id :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过期毫秒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: HMAC-SHA256</a:t>
            </a:r>
            <a:endParaRPr lang="en-US" sz="105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99" descr="{&quot;isTemplate&quot;:true,&quot;type&quot;:&quot;text&quot;}"/>
          <p:cNvSpPr txBox="1"/>
          <p:nvPr/>
        </p:nvSpPr>
        <p:spPr>
          <a:xfrm>
            <a:off x="6743700" y="3876675"/>
            <a:ext cx="476250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12:1761000000000:9f3c…e2b1</a:t>
            </a:r>
            <a:endParaRPr lang="en-US" sz="105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1" name="文本框 100" descr="{&quot;isTemplate&quot;:true,&quot;type&quot;:&quot;text&quot;}"/>
          <p:cNvSpPr txBox="1"/>
          <p:nvPr/>
        </p:nvSpPr>
        <p:spPr>
          <a:xfrm>
            <a:off x="6743700" y="4171950"/>
            <a:ext cx="4762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带签名</a:t>
            </a:r>
            <a:r>
              <a:rPr lang="en-US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→ </a:t>
            </a:r>
            <a:r>
              <a:rPr lang="zh-CN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改</a:t>
            </a:r>
            <a:r>
              <a:rPr lang="en-US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cookie </a:t>
            </a:r>
            <a:r>
              <a:rPr lang="zh-CN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冒充他人会被拒；</a:t>
            </a:r>
            <a:r>
              <a:rPr lang="en-US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HttpOnly</a:t>
            </a:r>
            <a:r>
              <a:rPr lang="zh-CN" sz="9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；常量时间比较防时序侧信道。</a:t>
            </a:r>
            <a:endParaRPr lang="zh-CN" sz="9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01" descr="{&quot;isTemplate&quot;:true,&quot;type&quot;:&quot;text&quot;}"/>
          <p:cNvSpPr txBox="1"/>
          <p:nvPr/>
        </p:nvSpPr>
        <p:spPr>
          <a:xfrm>
            <a:off x="6743700" y="4448175"/>
            <a:ext cx="47625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代价：密钥每次启动随机生成，重启后买家需重登。</a:t>
            </a:r>
            <a:endParaRPr lang="zh-CN" sz="975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02" descr="{&quot;isTemplate&quot;:true,&quot;type&quot;:&quot;text&quot;}"/>
          <p:cNvSpPr txBox="1"/>
          <p:nvPr/>
        </p:nvSpPr>
        <p:spPr>
          <a:xfrm>
            <a:off x="533400" y="6572250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胡成溯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账号与客户模块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03" descr="{&quot;isTemplate&quot;:true,&quot;type&quot;:&quot;text&quot;}"/>
          <p:cNvSpPr txBox="1"/>
          <p:nvPr/>
        </p:nvSpPr>
        <p:spPr>
          <a:xfrm>
            <a:off x="11172825" y="656272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04 / 07</a:t>
            </a:r>
            <a:endParaRPr lang="en-US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圆角矩形 104"/>
          <p:cNvSpPr/>
          <p:nvPr/>
        </p:nvSpPr>
        <p:spPr>
          <a:xfrm>
            <a:off x="6438900" y="3467100"/>
            <a:ext cx="5257800" cy="2895600"/>
          </a:xfrm>
          <a:prstGeom prst="roundRect">
            <a:avLst>
              <a:gd name="adj" fmla="val 2151"/>
            </a:avLst>
          </a:prstGeom>
          <a:solidFill>
            <a:srgbClr val="EDEDED"/>
          </a:solidFill>
        </p:spPr>
        <p:txBody>
          <a:bodyPr/>
          <a:p/>
        </p:txBody>
      </p:sp>
      <p:sp>
        <p:nvSpPr>
          <p:cNvPr id="116" name="文本框 105" descr="{&quot;isTemplate&quot;:true,&quot;type&quot;:&quot;text&quot;}"/>
          <p:cNvSpPr txBox="1"/>
          <p:nvPr/>
        </p:nvSpPr>
        <p:spPr>
          <a:xfrm>
            <a:off x="6591300" y="3552825"/>
            <a:ext cx="5029200" cy="277431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60000"/>
              </a:lnSpc>
            </a:pP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T2-02/T2-03 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交付了买家账号体系：买家可自助注册（提交用户名、密码、电话、默认交易地点；用户名唯一，电话可重复，密码经加盐哈希后用哈希存储），也可登录和退出；登录后可在“我的账号”页查看本人信息，未登录访问则跳转到登录页，并在登录后回到原页面。买家使用独立的</a:t>
            </a: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BUYER_SESSION 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与卖家会话并存，同一浏览器可同时登录，双方不会互相挤下线；如果篡改</a:t>
            </a: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cookie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，会被签名校验拒绝。另对外提供</a:t>
            </a: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BuyerContext.current()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，供下单模块取当前买家身份。</a:t>
            </a:r>
            <a:endParaRPr lang="zh-CN" sz="140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矩形 10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19" name="矩形 108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20" name="文本框 109" descr="{&quot;isTemplate&quot;:true,&quot;type&quot;:&quot;text&quot;}"/>
          <p:cNvSpPr txBox="1"/>
          <p:nvPr/>
        </p:nvSpPr>
        <p:spPr>
          <a:xfrm>
            <a:off x="533400" y="209550"/>
            <a:ext cx="2200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个人工作汇报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sz="1200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10" descr="{&quot;isTemplate&quot;:true,&quot;type&quot;:&quot;text&quot;}"/>
          <p:cNvSpPr txBox="1"/>
          <p:nvPr/>
        </p:nvSpPr>
        <p:spPr>
          <a:xfrm>
            <a:off x="9772650" y="209550"/>
            <a:ext cx="18859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04 T2-04 / T2-05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客户管理</a:t>
            </a:r>
            <a:endParaRPr lang="zh-CN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矩形 111"/>
          <p:cNvSpPr/>
          <p:nvPr/>
        </p:nvSpPr>
        <p:spPr>
          <a:xfrm>
            <a:off x="533400" y="866775"/>
            <a:ext cx="47625" cy="2857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3" name="文本框 112" descr="{&quot;isTemplate&quot;:true,&quot;type&quot;:&quot;text&quot;}"/>
          <p:cNvSpPr txBox="1"/>
          <p:nvPr/>
        </p:nvSpPr>
        <p:spPr>
          <a:xfrm>
            <a:off x="695325" y="819150"/>
            <a:ext cx="64674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T2-04 / T2-05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客户管理：列表检索与购买历史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13" descr="{&quot;isTemplate&quot;:true,&quot;type&quot;:&quot;text&quot;}"/>
          <p:cNvSpPr txBox="1"/>
          <p:nvPr/>
        </p:nvSpPr>
        <p:spPr>
          <a:xfrm>
            <a:off x="9934575" y="923925"/>
            <a:ext cx="17240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挑战需求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A.2.3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2 + 2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点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114" descr="{&quot;isTemplate&quot;:true,&quot;type&quot;:&quot;text&quot;}"/>
          <p:cNvSpPr txBox="1"/>
          <p:nvPr/>
        </p:nvSpPr>
        <p:spPr>
          <a:xfrm>
            <a:off x="533400" y="1304925"/>
            <a:ext cx="3171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/admin/customers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列表页口径（</a:t>
            </a: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T2-04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文本框 115" descr="{&quot;isTemplate&quot;:true,&quot;type&quot;:&quot;text&quot;}"/>
          <p:cNvSpPr txBox="1"/>
          <p:nvPr/>
        </p:nvSpPr>
        <p:spPr>
          <a:xfrm>
            <a:off x="5715000" y="1323975"/>
            <a:ext cx="16954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CustomerAdminController</a:t>
            </a:r>
            <a:endParaRPr lang="en-US" sz="1050">
              <a:solidFill>
                <a:srgbClr val="8B97A8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127" name="表格 116"/>
          <p:cNvGraphicFramePr/>
          <p:nvPr/>
        </p:nvGraphicFramePr>
        <p:xfrm>
          <a:off x="533400" y="1581150"/>
          <a:ext cx="6877050" cy="4552950"/>
        </p:xfrm>
        <a:graphic>
          <a:graphicData uri="http://schemas.openxmlformats.org/drawingml/2006/table">
            <a:tbl>
              <a:tblPr/>
              <a:tblGrid>
                <a:gridCol w="925450"/>
                <a:gridCol w="5951600"/>
              </a:tblGrid>
              <a:tr h="68539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项目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口径</a:t>
                      </a:r>
                      <a:endParaRPr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6445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展示字段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用户名、电话、默认交易地点、注册时间——四项固定，不做脱敏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45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排序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注册时间倒序（新注册在前），另按 id 倒序兜底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6445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检索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用户名 或 电话，模糊匹配；空关键词返回全部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45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分页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默认每页 10 条，上限 100，翻页保留检索词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6445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权限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仅卖家登录可进（LoginInterceptor 拦 /admin/**）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44593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空结果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分两种提示：「没有匹配 xx」与「还没有客户注册」</a:t>
                      </a:r>
                      <a:endParaRPr sz="1125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8" name="圆角矩形 117"/>
          <p:cNvSpPr/>
          <p:nvPr/>
        </p:nvSpPr>
        <p:spPr>
          <a:xfrm>
            <a:off x="7610475" y="1304925"/>
            <a:ext cx="409575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</p:spPr>
        <p:txBody>
          <a:bodyPr/>
          <a:p/>
        </p:txBody>
      </p:sp>
      <p:sp>
        <p:nvSpPr>
          <p:cNvPr id="129" name="任意多边形 118"/>
          <p:cNvSpPr/>
          <p:nvPr/>
        </p:nvSpPr>
        <p:spPr>
          <a:xfrm>
            <a:off x="7610475" y="1304925"/>
            <a:ext cx="4095750" cy="914400"/>
          </a:xfrm>
          <a:custGeom>
            <a:avLst/>
            <a:gdLst/>
            <a:ahLst/>
            <a:cxnLst/>
            <a:pathLst>
              <a:path w="430" h="96">
                <a:moveTo>
                  <a:pt x="6" y="0"/>
                </a:moveTo>
                <a:cubicBezTo>
                  <a:pt x="5" y="0"/>
                  <a:pt x="5" y="0"/>
                  <a:pt x="5" y="1"/>
                </a:cubicBezTo>
                <a:lnTo>
                  <a:pt x="5" y="95"/>
                </a:lnTo>
                <a:cubicBezTo>
                  <a:pt x="5" y="96"/>
                  <a:pt x="5" y="96"/>
                  <a:pt x="6" y="96"/>
                </a:cubicBezTo>
                <a:cubicBezTo>
                  <a:pt x="3" y="96"/>
                  <a:pt x="0" y="93"/>
                  <a:pt x="0" y="9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130" name="文本框 119" descr="{&quot;isTemplate&quot;:true,&quot;type&quot;:&quot;text&quot;}"/>
          <p:cNvSpPr txBox="1"/>
          <p:nvPr/>
        </p:nvSpPr>
        <p:spPr>
          <a:xfrm>
            <a:off x="7762875" y="1400175"/>
            <a:ext cx="37433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详情页两块（</a:t>
            </a:r>
            <a:r>
              <a:rPr lang="en-US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T2-05</a:t>
            </a:r>
            <a:r>
              <a:rPr lang="zh-CN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125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20" descr="{&quot;isTemplate&quot;:true,&quot;type&quot;:&quot;text&quot;}"/>
          <p:cNvSpPr txBox="1"/>
          <p:nvPr/>
        </p:nvSpPr>
        <p:spPr>
          <a:xfrm>
            <a:off x="7762875" y="1609725"/>
            <a:ext cx="37433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上：客户基本信息（同上四项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id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）；下：购买历史，只列已结束的订单与结果。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圆角矩形 121"/>
          <p:cNvSpPr/>
          <p:nvPr/>
        </p:nvSpPr>
        <p:spPr>
          <a:xfrm>
            <a:off x="7562850" y="2314575"/>
            <a:ext cx="4095750" cy="3971925"/>
          </a:xfrm>
          <a:prstGeom prst="roundRect">
            <a:avLst>
              <a:gd name="adj" fmla="val 143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3" name="文本框 122" descr="{&quot;isTemplate&quot;:true,&quot;type&quot;:&quot;text&quot;}"/>
          <p:cNvSpPr txBox="1"/>
          <p:nvPr/>
        </p:nvSpPr>
        <p:spPr>
          <a:xfrm>
            <a:off x="7715250" y="2428875"/>
            <a:ext cx="3790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购买历史怎么取：接口由消费方定义</a:t>
            </a:r>
            <a:endParaRPr lang="zh-CN" sz="1125" spc="7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圆角矩形 123"/>
          <p:cNvSpPr/>
          <p:nvPr/>
        </p:nvSpPr>
        <p:spPr>
          <a:xfrm>
            <a:off x="7715250" y="2676525"/>
            <a:ext cx="3790950" cy="3048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BBD0EC"/>
            </a:solidFill>
            <a:prstDash val="solid"/>
          </a:ln>
        </p:spPr>
        <p:txBody>
          <a:bodyPr/>
          <a:p/>
        </p:txBody>
      </p:sp>
      <p:sp>
        <p:nvSpPr>
          <p:cNvPr id="135" name="文本框 124" descr="{&quot;isTemplate&quot;:true,&quot;type&quot;:&quot;text&quot;}"/>
          <p:cNvSpPr txBox="1"/>
          <p:nvPr/>
        </p:nvSpPr>
        <p:spPr>
          <a:xfrm>
            <a:off x="7810500" y="2752725"/>
            <a:ext cx="3600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admin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（我）定义接口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IntentHistoryPort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文本框 125" descr="{&quot;isTemplate&quot;:true,&quot;type&quot;:&quot;text&quot;}"/>
          <p:cNvSpPr txBox="1"/>
          <p:nvPr/>
        </p:nvSpPr>
        <p:spPr>
          <a:xfrm>
            <a:off x="7715250" y="3057525"/>
            <a:ext cx="3790950" cy="19050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↓ Spring </a:t>
            </a:r>
            <a:r>
              <a:rPr lang="zh-CN" sz="12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自动注入实现</a:t>
            </a:r>
            <a:endParaRPr lang="zh-CN" sz="12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7" name="圆角矩形 126"/>
          <p:cNvSpPr/>
          <p:nvPr/>
        </p:nvSpPr>
        <p:spPr>
          <a:xfrm>
            <a:off x="7715250" y="3324225"/>
            <a:ext cx="3790950" cy="3048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BBD0EC"/>
            </a:solidFill>
            <a:prstDash val="solid"/>
          </a:ln>
        </p:spPr>
        <p:txBody>
          <a:bodyPr/>
          <a:p/>
        </p:txBody>
      </p:sp>
      <p:sp>
        <p:nvSpPr>
          <p:cNvPr id="138" name="文本框 127" descr="{&quot;isTemplate&quot;:true,&quot;type&quot;:&quot;text&quot;}"/>
          <p:cNvSpPr txBox="1"/>
          <p:nvPr/>
        </p:nvSpPr>
        <p:spPr>
          <a:xfrm>
            <a:off x="7810500" y="3400425"/>
            <a:ext cx="36004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portal</a:t>
            </a:r>
            <a:r>
              <a:rPr lang="zh-CN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（周到）实现：</a:t>
            </a:r>
            <a:r>
              <a:rPr lang="en-US" sz="975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listByBuyer(buyerId)</a:t>
            </a:r>
            <a:endParaRPr lang="en-US" sz="975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9" name="文本框 128" descr="{&quot;isTemplate&quot;:true,&quot;type&quot;:&quot;text&quot;}"/>
          <p:cNvSpPr txBox="1"/>
          <p:nvPr/>
        </p:nvSpPr>
        <p:spPr>
          <a:xfrm>
            <a:off x="7715250" y="3705225"/>
            <a:ext cx="3790950" cy="4857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intent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表归周到，我不能直接查；接口签名与任务表约定的</a:t>
            </a:r>
            <a:r>
              <a:rPr lang="en-US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listByBuyer </a:t>
            </a:r>
            <a:r>
              <a:rPr lang="zh-CN" sz="10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对齐，只暴露页面要的五个字段。</a:t>
            </a:r>
            <a:endParaRPr lang="zh-CN" sz="10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29" descr="{&quot;isTemplate&quot;:true,&quot;type&quot;:&quot;text&quot;}"/>
          <p:cNvSpPr txBox="1"/>
          <p:nvPr/>
        </p:nvSpPr>
        <p:spPr>
          <a:xfrm>
            <a:off x="533400" y="6572250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胡成溯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账号与客户模块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30" descr="{&quot;isTemplate&quot;:true,&quot;type&quot;:&quot;text&quot;}"/>
          <p:cNvSpPr txBox="1"/>
          <p:nvPr/>
        </p:nvSpPr>
        <p:spPr>
          <a:xfrm>
            <a:off x="11172825" y="656272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05 / 07</a:t>
            </a:r>
            <a:endParaRPr lang="en-US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圆角矩形 131"/>
          <p:cNvSpPr/>
          <p:nvPr/>
        </p:nvSpPr>
        <p:spPr>
          <a:xfrm>
            <a:off x="7486650" y="2319020"/>
            <a:ext cx="4521835" cy="3962400"/>
          </a:xfrm>
          <a:prstGeom prst="roundRect">
            <a:avLst>
              <a:gd name="adj" fmla="val 2381"/>
            </a:avLst>
          </a:prstGeom>
          <a:solidFill>
            <a:srgbClr val="EDEDED"/>
          </a:solidFill>
        </p:spPr>
        <p:txBody>
          <a:bodyPr/>
          <a:p/>
        </p:txBody>
      </p:sp>
      <p:sp>
        <p:nvSpPr>
          <p:cNvPr id="143" name="文本框 132" descr="{&quot;isTemplate&quot;:true,&quot;type&quot;:&quot;text&quot;}"/>
          <p:cNvSpPr txBox="1"/>
          <p:nvPr/>
        </p:nvSpPr>
        <p:spPr>
          <a:xfrm>
            <a:off x="7712075" y="2361565"/>
            <a:ext cx="4096385" cy="385826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70000"/>
              </a:lnSpc>
            </a:pP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T2-04 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T2-05 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是卖家后台的两个只读页面。</a:t>
            </a: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T2-04 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是客户列表页，卖家登录后可从顶栏「客户管理」进入，查看全部注册客户（用户名、电话、默认地点、注册时间四项不脱敏），按注册时间倒序，支持用户名的模糊检索与电话的模糊检索、分页，翻页时保留检索词，空结果按“无匹配”和“无客户”两种提示区分。</a:t>
            </a:r>
            <a:r>
              <a:rPr lang="en-US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T2-05 </a:t>
            </a:r>
            <a:r>
              <a:rPr lang="zh-CN" sz="14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是客户详情，上半部分是客户基本资料，下半部分是该客户的购买历史，列出商品、下单时间、成功或失败结果、交易时间与失败原因，只列已结束订单。两点均无修改与删除功能。</a:t>
            </a:r>
            <a:endParaRPr lang="zh-CN" sz="140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6" name="矩形 135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47" name="文本框 136" descr="{&quot;isTemplate&quot;:true,&quot;type&quot;:&quot;text&quot;}"/>
          <p:cNvSpPr txBox="1"/>
          <p:nvPr/>
        </p:nvSpPr>
        <p:spPr>
          <a:xfrm>
            <a:off x="533400" y="209550"/>
            <a:ext cx="22002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迭代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个人工作汇报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sz="1200" spc="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</a:t>
            </a:r>
            <a:endParaRPr lang="zh-CN" sz="1200" spc="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37" descr="{&quot;isTemplate&quot;:true,&quot;type&quot;:&quot;text&quot;}"/>
          <p:cNvSpPr txBox="1"/>
          <p:nvPr/>
        </p:nvSpPr>
        <p:spPr>
          <a:xfrm>
            <a:off x="9620250" y="209550"/>
            <a:ext cx="20383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05 T2-06 / T2-07 </a:t>
            </a:r>
            <a:r>
              <a:rPr lang="zh-CN" sz="120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契约与用例</a:t>
            </a:r>
            <a:endParaRPr lang="zh-CN" sz="120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矩形 138"/>
          <p:cNvSpPr/>
          <p:nvPr/>
        </p:nvSpPr>
        <p:spPr>
          <a:xfrm>
            <a:off x="533400" y="866775"/>
            <a:ext cx="47625" cy="28575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50" name="文本框 139" descr="{&quot;isTemplate&quot;:true,&quot;type&quot;:&quot;text&quot;}"/>
          <p:cNvSpPr txBox="1"/>
          <p:nvPr/>
        </p:nvSpPr>
        <p:spPr>
          <a:xfrm>
            <a:off x="695325" y="819150"/>
            <a:ext cx="5248275" cy="3714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T2-06 / T2-07 </a:t>
            </a:r>
            <a:r>
              <a:rPr lang="zh-CN" sz="240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接口契约与自动化测试</a:t>
            </a:r>
            <a:endParaRPr lang="zh-CN" sz="240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40" descr="{&quot;isTemplate&quot;:true,&quot;type&quot;:&quot;text&quot;}"/>
          <p:cNvSpPr txBox="1"/>
          <p:nvPr/>
        </p:nvSpPr>
        <p:spPr>
          <a:xfrm>
            <a:off x="9610725" y="923925"/>
            <a:ext cx="20478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1 + 1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点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｜</a:t>
            </a:r>
            <a:r>
              <a:rPr lang="en-US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mvn test 41 </a:t>
            </a:r>
            <a:r>
              <a:rPr lang="zh-CN" sz="1125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条全绿</a:t>
            </a:r>
            <a:endParaRPr lang="zh-CN" sz="1125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41" descr="{&quot;isTemplate&quot;:true,&quot;type&quot;:&quot;text&quot;}"/>
          <p:cNvSpPr txBox="1"/>
          <p:nvPr/>
        </p:nvSpPr>
        <p:spPr>
          <a:xfrm>
            <a:off x="533400" y="1304925"/>
            <a:ext cx="279082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联调检查清单（</a:t>
            </a:r>
            <a:r>
              <a:rPr lang="en-US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T2-06 </a:t>
            </a:r>
            <a:r>
              <a:rPr lang="zh-CN" sz="1275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契约的一部分）</a:t>
            </a:r>
            <a:endParaRPr lang="zh-CN" sz="1275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文本框 142" descr="{&quot;isTemplate&quot;:true,&quot;type&quot;:&quot;text&quot;}"/>
          <p:cNvSpPr txBox="1"/>
          <p:nvPr/>
        </p:nvSpPr>
        <p:spPr>
          <a:xfrm>
            <a:off x="4800600" y="1323975"/>
            <a:ext cx="26098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docs/</a:t>
            </a:r>
            <a:r>
              <a:rPr lang="zh-CN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契约</a:t>
            </a:r>
            <a:r>
              <a:rPr lang="en-US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账号与客户</a:t>
            </a:r>
            <a:r>
              <a:rPr lang="en-US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-</a:t>
            </a:r>
            <a:r>
              <a:rPr lang="zh-CN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迭代</a:t>
            </a:r>
            <a:r>
              <a:rPr lang="en-US" sz="1050">
                <a:solidFill>
                  <a:srgbClr val="8B97A8"/>
                </a:solidFill>
                <a:latin typeface="Consolas" panose="020B0609020204030204"/>
                <a:ea typeface="Consolas" panose="020B0609020204030204"/>
              </a:rPr>
              <a:t>2.md</a:t>
            </a:r>
            <a:endParaRPr lang="en-US" sz="1050">
              <a:solidFill>
                <a:srgbClr val="8B97A8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154" name="表格 143"/>
          <p:cNvGraphicFramePr/>
          <p:nvPr/>
        </p:nvGraphicFramePr>
        <p:xfrm>
          <a:off x="533400" y="1581150"/>
          <a:ext cx="6877050" cy="4229101"/>
        </p:xfrm>
        <a:graphic>
          <a:graphicData uri="http://schemas.openxmlformats.org/drawingml/2006/table">
            <a:tbl>
              <a:tblPr/>
              <a:tblGrid>
                <a:gridCol w="262646"/>
                <a:gridCol w="6614404"/>
              </a:tblGrid>
              <a:tr h="483501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#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检查项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注册成功、重复用户名被拒且提示明确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电话为空被拒；同一电话可注册两个账号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注册后库中 password_hash 非明文、salt 非空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买家登录下发 BUYER_SESSION（HttpOnly），错误提示不区分账号是否存在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卖家 SHOP_SESSION 与买家 cookie 同时存在时，两个后台都能打开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手改 BUYER_SESSION 任一字符后访问 /buyer/me 被拒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未登录访问 /my/orders 跳 /buyer/login?redirect=…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8200"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 b="1">
                          <a:solidFill>
                            <a:srgbClr val="1E4FA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050" b="1">
                        <a:solidFill>
                          <a:srgbClr val="1E4FA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卖家后台 /admin/customers 能检索、翻页、进详情</a:t>
                      </a:r>
                      <a:endParaRPr sz="1050">
                        <a:solidFill>
                          <a:srgbClr val="1A22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55" name="圆角矩形 144"/>
          <p:cNvSpPr/>
          <p:nvPr/>
        </p:nvSpPr>
        <p:spPr>
          <a:xfrm>
            <a:off x="533400" y="5886450"/>
            <a:ext cx="6877050" cy="333375"/>
          </a:xfrm>
          <a:prstGeom prst="roundRect">
            <a:avLst>
              <a:gd name="adj" fmla="val 17143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56" name="文本框 145" descr="{&quot;isTemplate&quot;:true,&quot;type&quot;:&quot;text&quot;}"/>
          <p:cNvSpPr txBox="1"/>
          <p:nvPr/>
        </p:nvSpPr>
        <p:spPr>
          <a:xfrm>
            <a:off x="685800" y="5972175"/>
            <a:ext cx="34575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这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条全部落成了自动化用例，评审时可现场跑</a:t>
            </a:r>
            <a:r>
              <a:rPr lang="en-US" sz="10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0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mvn test</a:t>
            </a:r>
            <a:endParaRPr lang="en-US" sz="105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46" descr="{&quot;isTemplate&quot;:true,&quot;type&quot;:&quot;text&quot;}"/>
          <p:cNvSpPr txBox="1"/>
          <p:nvPr/>
        </p:nvSpPr>
        <p:spPr>
          <a:xfrm>
            <a:off x="6753225" y="5981700"/>
            <a:ext cx="5048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见</a:t>
            </a: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 T2-07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圆角矩形 147"/>
          <p:cNvSpPr/>
          <p:nvPr/>
        </p:nvSpPr>
        <p:spPr>
          <a:xfrm>
            <a:off x="7562850" y="1304925"/>
            <a:ext cx="4095750" cy="828675"/>
          </a:xfrm>
          <a:prstGeom prst="roundRect">
            <a:avLst>
              <a:gd name="adj" fmla="val 9195"/>
            </a:avLst>
          </a:prstGeom>
          <a:solidFill>
            <a:srgbClr val="E8EFF8"/>
          </a:solidFill>
        </p:spPr>
        <p:txBody>
          <a:bodyPr/>
          <a:p/>
        </p:txBody>
      </p:sp>
      <p:sp>
        <p:nvSpPr>
          <p:cNvPr id="159" name="文本框 148" descr="{&quot;isTemplate&quot;:true,&quot;type&quot;:&quot;text&quot;}"/>
          <p:cNvSpPr txBox="1"/>
          <p:nvPr/>
        </p:nvSpPr>
        <p:spPr>
          <a:xfrm>
            <a:off x="7734300" y="1419225"/>
            <a:ext cx="619125" cy="600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41</a:t>
            </a:r>
            <a:endParaRPr lang="en-US" sz="3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49" descr="{&quot;isTemplate&quot;:true,&quot;type&quot;:&quot;text&quot;}"/>
          <p:cNvSpPr txBox="1"/>
          <p:nvPr/>
        </p:nvSpPr>
        <p:spPr>
          <a:xfrm>
            <a:off x="8448675" y="1619250"/>
            <a:ext cx="11144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条用例全绿</a:t>
            </a:r>
            <a:endParaRPr lang="zh-CN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文本框 150" descr="{&quot;isTemplate&quot;:true,&quot;type&quot;:&quot;text&quot;}"/>
          <p:cNvSpPr txBox="1"/>
          <p:nvPr/>
        </p:nvSpPr>
        <p:spPr>
          <a:xfrm>
            <a:off x="8448675" y="1828800"/>
            <a:ext cx="11144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Failures 0 · Errors 0</a:t>
            </a:r>
            <a:endParaRPr lang="en-US" sz="9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51"/>
          <p:cNvSpPr/>
          <p:nvPr/>
        </p:nvSpPr>
        <p:spPr>
          <a:xfrm>
            <a:off x="7562850" y="2228850"/>
            <a:ext cx="4095750" cy="3057525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3" name="文本框 152" descr="{&quot;isTemplate&quot;:true,&quot;type&quot;:&quot;text&quot;}"/>
          <p:cNvSpPr txBox="1"/>
          <p:nvPr/>
        </p:nvSpPr>
        <p:spPr>
          <a:xfrm>
            <a:off x="7715250" y="2352675"/>
            <a:ext cx="14859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AuthFlowTest</a:t>
            </a:r>
            <a:r>
              <a:rPr lang="zh-CN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（沿用）</a:t>
            </a:r>
            <a:endParaRPr lang="zh-CN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53" descr="{&quot;isTemplate&quot;:true,&quot;type&quot;:&quot;text&quot;}"/>
          <p:cNvSpPr txBox="1"/>
          <p:nvPr/>
        </p:nvSpPr>
        <p:spPr>
          <a:xfrm>
            <a:off x="11315700" y="234315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  <a:endParaRPr lang="en-US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文本框 154" descr="{&quot;isTemplate&quot;:true,&quot;type&quot;:&quot;text&quot;}"/>
          <p:cNvSpPr txBox="1"/>
          <p:nvPr/>
        </p:nvSpPr>
        <p:spPr>
          <a:xfrm>
            <a:off x="7734300" y="2753360"/>
            <a:ext cx="1628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BuyerAuthTest</a:t>
            </a:r>
            <a:r>
              <a:rPr lang="zh-CN" sz="1125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（新增）</a:t>
            </a:r>
            <a:endParaRPr lang="zh-CN" sz="1125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55" descr="{&quot;isTemplate&quot;:true,&quot;type&quot;:&quot;text&quot;}"/>
          <p:cNvSpPr txBox="1"/>
          <p:nvPr/>
        </p:nvSpPr>
        <p:spPr>
          <a:xfrm>
            <a:off x="11296650" y="2760980"/>
            <a:ext cx="190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18</a:t>
            </a:r>
            <a:endParaRPr lang="en-US" sz="12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56" descr="{&quot;isTemplate&quot;:true,&quot;type&quot;:&quot;text&quot;}"/>
          <p:cNvSpPr txBox="1"/>
          <p:nvPr/>
        </p:nvSpPr>
        <p:spPr>
          <a:xfrm>
            <a:off x="7734300" y="3200400"/>
            <a:ext cx="12668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CommonLayerTest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57" descr="{&quot;isTemplate&quot;:true,&quot;type&quot;:&quot;text&quot;}"/>
          <p:cNvSpPr txBox="1"/>
          <p:nvPr/>
        </p:nvSpPr>
        <p:spPr>
          <a:xfrm>
            <a:off x="11315700" y="3181985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58" descr="{&quot;isTemplate&quot;:true,&quot;type&quot;:&quot;text&quot;}"/>
          <p:cNvSpPr txBox="1"/>
          <p:nvPr/>
        </p:nvSpPr>
        <p:spPr>
          <a:xfrm>
            <a:off x="7734300" y="3614420"/>
            <a:ext cx="17049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SchemaIdempotencyTest</a:t>
            </a:r>
            <a:endParaRPr lang="en-US" sz="112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0" name="文本框 159" descr="{&quot;isTemplate&quot;:true,&quot;type&quot;:&quot;text&quot;}"/>
          <p:cNvSpPr txBox="1"/>
          <p:nvPr/>
        </p:nvSpPr>
        <p:spPr>
          <a:xfrm>
            <a:off x="11315700" y="3602990"/>
            <a:ext cx="95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1200" b="1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圆角矩形 160"/>
          <p:cNvSpPr/>
          <p:nvPr/>
        </p:nvSpPr>
        <p:spPr>
          <a:xfrm>
            <a:off x="7562850" y="5381625"/>
            <a:ext cx="4095750" cy="904875"/>
          </a:xfrm>
          <a:prstGeom prst="roundRect">
            <a:avLst>
              <a:gd name="adj" fmla="val 8421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172" name="文本框 161" descr="{&quot;isTemplate&quot;:true,&quot;type&quot;:&quot;text&quot;}"/>
          <p:cNvSpPr txBox="1"/>
          <p:nvPr/>
        </p:nvSpPr>
        <p:spPr>
          <a:xfrm>
            <a:off x="7715250" y="5486400"/>
            <a:ext cx="37909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新增</a:t>
            </a:r>
            <a:r>
              <a:rPr lang="en-US" sz="975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18 </a:t>
            </a:r>
            <a:r>
              <a:rPr lang="zh-CN" sz="975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条的分布</a:t>
            </a:r>
            <a:endParaRPr lang="zh-CN" sz="975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62" descr="{&quot;isTemplate&quot;:true,&quot;type&quot;:&quot;text&quot;}"/>
          <p:cNvSpPr txBox="1"/>
          <p:nvPr/>
        </p:nvSpPr>
        <p:spPr>
          <a:xfrm>
            <a:off x="7715250" y="5676900"/>
            <a:ext cx="37909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注册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6 ·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登录与会话隔离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4 ·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客户管理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3 ·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越权与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cookie </a:t>
            </a:r>
            <a:r>
              <a:rPr lang="zh-CN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篡改</a:t>
            </a:r>
            <a:r>
              <a:rPr lang="en-US" sz="10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5</a:t>
            </a:r>
            <a:endParaRPr lang="en-US" sz="105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63" descr="{&quot;isTemplate&quot;:true,&quot;type&quot;:&quot;text&quot;}"/>
          <p:cNvSpPr txBox="1"/>
          <p:nvPr/>
        </p:nvSpPr>
        <p:spPr>
          <a:xfrm>
            <a:off x="7715250" y="5962650"/>
            <a:ext cx="3790950" cy="219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FFC107"/>
                </a:solidFill>
                <a:latin typeface="微软雅黑" panose="020B0503020204020204" charset="-122"/>
                <a:ea typeface="微软雅黑" panose="020B0503020204020204" charset="-122"/>
              </a:rPr>
              <a:t>「电话可重复填」专门写了一条用例，防止后人顺手加唯一索引。</a:t>
            </a:r>
            <a:endParaRPr lang="zh-CN" sz="975">
              <a:solidFill>
                <a:srgbClr val="FFC1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64" descr="{&quot;isTemplate&quot;:true,&quot;type&quot;:&quot;text&quot;}"/>
          <p:cNvSpPr txBox="1"/>
          <p:nvPr/>
        </p:nvSpPr>
        <p:spPr>
          <a:xfrm>
            <a:off x="533400" y="6572250"/>
            <a:ext cx="1447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胡成溯</a:t>
            </a: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账号与客户模块</a:t>
            </a:r>
            <a:endParaRPr lang="zh-CN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65" descr="{&quot;isTemplate&quot;:true,&quot;type&quot;:&quot;text&quot;}"/>
          <p:cNvSpPr txBox="1"/>
          <p:nvPr/>
        </p:nvSpPr>
        <p:spPr>
          <a:xfrm>
            <a:off x="11172825" y="6562725"/>
            <a:ext cx="48577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06 / 07</a:t>
            </a:r>
            <a:endParaRPr lang="en-US" sz="1125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7" name="圆角矩形 166"/>
          <p:cNvSpPr/>
          <p:nvPr/>
        </p:nvSpPr>
        <p:spPr>
          <a:xfrm>
            <a:off x="7543800" y="4267200"/>
            <a:ext cx="4152900" cy="2152650"/>
          </a:xfrm>
          <a:prstGeom prst="roundRect">
            <a:avLst>
              <a:gd name="adj" fmla="val 2041"/>
            </a:avLst>
          </a:prstGeom>
          <a:solidFill>
            <a:srgbClr val="FCF3D4"/>
          </a:solidFill>
        </p:spPr>
        <p:txBody>
          <a:bodyPr/>
          <a:p/>
        </p:txBody>
      </p:sp>
      <p:sp>
        <p:nvSpPr>
          <p:cNvPr id="178" name="文本框 167" descr="{&quot;isTemplate&quot;:true,&quot;type&quot;:&quot;text&quot;}"/>
          <p:cNvSpPr txBox="1"/>
          <p:nvPr/>
        </p:nvSpPr>
        <p:spPr>
          <a:xfrm>
            <a:off x="7715250" y="4384040"/>
            <a:ext cx="3771900" cy="187388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70000"/>
              </a:lnSpc>
            </a:pPr>
            <a:r>
              <a:rPr lang="en-US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T2-06 </a:t>
            </a:r>
            <a:r>
              <a:rPr lang="zh-CN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8 </a:t>
            </a:r>
            <a:r>
              <a:rPr lang="zh-CN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条路由和跨模块接口写成对接文档</a:t>
            </a:r>
            <a:r>
              <a:rPr lang="en-US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作为团队使用的接口说明书；</a:t>
            </a:r>
            <a:r>
              <a:rPr lang="en-US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T2-07 </a:t>
            </a:r>
            <a:r>
              <a:rPr lang="zh-CN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采用自动化测试</a:t>
            </a:r>
            <a:r>
              <a:rPr lang="en-US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 41 </a:t>
            </a:r>
            <a:r>
              <a:rPr lang="zh-CN" sz="160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</a:rPr>
              <a:t>条测试把验收标准变成可执行断言。</a:t>
            </a:r>
            <a:endParaRPr lang="zh-CN" sz="160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3909</Words>
  <Application>WPS 演示</Application>
  <PresentationFormat/>
  <Paragraphs>440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Consolas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溯</cp:lastModifiedBy>
  <cp:revision>3</cp:revision>
  <dcterms:created xsi:type="dcterms:W3CDTF">2026-10-21T15:50:58Z</dcterms:created>
  <dcterms:modified xsi:type="dcterms:W3CDTF">2026-10-21T17:49:02Z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{"AIGC":{"Label":"1","ContentProducer":"00119111010856365494821B355","ProduceID":"01a15a0ed20c795d9f6b06d87f59cee4","ReservedCode1":"","ContentPropagator":"00119111010856365494821B355","PropagateID":"01a15a0ed20c795d9f6b06d87f59cee4","ReservedCode2":""}}</vt:lpwstr>
  </property>
  <property fmtid="{D5CDD505-2E9C-101B-9397-08002B2CF9AE}" pid="3" name="ICV">
    <vt:lpwstr>CB61940C8C7748629DE825DCFD850B78_12</vt:lpwstr>
  </property>
  <property fmtid="{D5CDD505-2E9C-101B-9397-08002B2CF9AE}" pid="4" name="KSOProductBuildVer">
    <vt:lpwstr>2052-12.1.0.29161</vt:lpwstr>
  </property>
</Properties>
</file>